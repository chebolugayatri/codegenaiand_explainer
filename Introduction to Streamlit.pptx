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53535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53535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2812" y="1809050"/>
            <a:ext cx="7940675" cy="1737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30809" y="4082586"/>
            <a:ext cx="10547350" cy="347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53535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6432389" y="9006877"/>
            <a:ext cx="835659" cy="899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Relationship Id="rId24" Type="http://schemas.openxmlformats.org/officeDocument/2006/relationships/image" Target="../media/image49.png"/><Relationship Id="rId25" Type="http://schemas.openxmlformats.org/officeDocument/2006/relationships/image" Target="../media/image2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312" y="6882983"/>
            <a:ext cx="4585687" cy="340401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6597918"/>
            <a:ext cx="4175760" cy="3689350"/>
            <a:chOff x="0" y="6597918"/>
            <a:chExt cx="4175760" cy="3689350"/>
          </a:xfrm>
        </p:grpSpPr>
        <p:sp>
          <p:nvSpPr>
            <p:cNvPr id="4" name="object 4" descr=""/>
            <p:cNvSpPr/>
            <p:nvPr/>
          </p:nvSpPr>
          <p:spPr>
            <a:xfrm>
              <a:off x="0" y="6597918"/>
              <a:ext cx="4175760" cy="3689350"/>
            </a:xfrm>
            <a:custGeom>
              <a:avLst/>
              <a:gdLst/>
              <a:ahLst/>
              <a:cxnLst/>
              <a:rect l="l" t="t" r="r" b="b"/>
              <a:pathLst>
                <a:path w="4175760" h="3689350">
                  <a:moveTo>
                    <a:pt x="4175440" y="3689081"/>
                  </a:moveTo>
                  <a:lnTo>
                    <a:pt x="0" y="0"/>
                  </a:lnTo>
                  <a:lnTo>
                    <a:pt x="0" y="3689081"/>
                  </a:lnTo>
                  <a:lnTo>
                    <a:pt x="4175440" y="368908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6727806"/>
              <a:ext cx="3559810" cy="3559810"/>
            </a:xfrm>
            <a:custGeom>
              <a:avLst/>
              <a:gdLst/>
              <a:ahLst/>
              <a:cxnLst/>
              <a:rect l="l" t="t" r="r" b="b"/>
              <a:pathLst>
                <a:path w="3559810" h="3559809">
                  <a:moveTo>
                    <a:pt x="0" y="3559193"/>
                  </a:moveTo>
                  <a:lnTo>
                    <a:pt x="3559193" y="3559193"/>
                  </a:lnTo>
                  <a:lnTo>
                    <a:pt x="0" y="0"/>
                  </a:lnTo>
                  <a:lnTo>
                    <a:pt x="0" y="355919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5488054" y="0"/>
            <a:ext cx="2800350" cy="2526030"/>
            <a:chOff x="15488054" y="0"/>
            <a:chExt cx="2800350" cy="2526030"/>
          </a:xfrm>
        </p:grpSpPr>
        <p:sp>
          <p:nvSpPr>
            <p:cNvPr id="7" name="object 7" descr=""/>
            <p:cNvSpPr/>
            <p:nvPr/>
          </p:nvSpPr>
          <p:spPr>
            <a:xfrm>
              <a:off x="15488054" y="0"/>
              <a:ext cx="2800350" cy="2526030"/>
            </a:xfrm>
            <a:custGeom>
              <a:avLst/>
              <a:gdLst/>
              <a:ahLst/>
              <a:cxnLst/>
              <a:rect l="l" t="t" r="r" b="b"/>
              <a:pathLst>
                <a:path w="2800350" h="252603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844815" y="0"/>
              <a:ext cx="2443480" cy="2443480"/>
            </a:xfrm>
            <a:custGeom>
              <a:avLst/>
              <a:gdLst/>
              <a:ahLst/>
              <a:cxnLst/>
              <a:rect l="l" t="t" r="r" b="b"/>
              <a:pathLst>
                <a:path w="2443480" h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2610517" y="8278459"/>
            <a:ext cx="5334000" cy="1017905"/>
            <a:chOff x="12610517" y="8278459"/>
            <a:chExt cx="5334000" cy="1017905"/>
          </a:xfrm>
        </p:grpSpPr>
        <p:sp>
          <p:nvSpPr>
            <p:cNvPr id="10" name="object 10" descr=""/>
            <p:cNvSpPr/>
            <p:nvPr/>
          </p:nvSpPr>
          <p:spPr>
            <a:xfrm>
              <a:off x="12648333" y="8316559"/>
              <a:ext cx="5260975" cy="942340"/>
            </a:xfrm>
            <a:custGeom>
              <a:avLst/>
              <a:gdLst/>
              <a:ahLst/>
              <a:cxnLst/>
              <a:rect l="l" t="t" r="r" b="b"/>
              <a:pathLst>
                <a:path w="5260975" h="942340">
                  <a:moveTo>
                    <a:pt x="4789926" y="941740"/>
                  </a:moveTo>
                  <a:lnTo>
                    <a:pt x="470870" y="941740"/>
                  </a:lnTo>
                  <a:lnTo>
                    <a:pt x="422726" y="939309"/>
                  </a:lnTo>
                  <a:lnTo>
                    <a:pt x="375973" y="932174"/>
                  </a:lnTo>
                  <a:lnTo>
                    <a:pt x="330847" y="920571"/>
                  </a:lnTo>
                  <a:lnTo>
                    <a:pt x="287586" y="904737"/>
                  </a:lnTo>
                  <a:lnTo>
                    <a:pt x="246425" y="884909"/>
                  </a:lnTo>
                  <a:lnTo>
                    <a:pt x="207602" y="861323"/>
                  </a:lnTo>
                  <a:lnTo>
                    <a:pt x="171352" y="834216"/>
                  </a:lnTo>
                  <a:lnTo>
                    <a:pt x="137914" y="803825"/>
                  </a:lnTo>
                  <a:lnTo>
                    <a:pt x="107523" y="770387"/>
                  </a:lnTo>
                  <a:lnTo>
                    <a:pt x="80417" y="734138"/>
                  </a:lnTo>
                  <a:lnTo>
                    <a:pt x="56831" y="695314"/>
                  </a:lnTo>
                  <a:lnTo>
                    <a:pt x="37003" y="654154"/>
                  </a:lnTo>
                  <a:lnTo>
                    <a:pt x="21169" y="610892"/>
                  </a:lnTo>
                  <a:lnTo>
                    <a:pt x="9566" y="565766"/>
                  </a:lnTo>
                  <a:lnTo>
                    <a:pt x="2431" y="519013"/>
                  </a:lnTo>
                  <a:lnTo>
                    <a:pt x="0" y="470870"/>
                  </a:lnTo>
                  <a:lnTo>
                    <a:pt x="2431" y="422726"/>
                  </a:lnTo>
                  <a:lnTo>
                    <a:pt x="9566" y="375973"/>
                  </a:lnTo>
                  <a:lnTo>
                    <a:pt x="21169" y="330847"/>
                  </a:lnTo>
                  <a:lnTo>
                    <a:pt x="37003" y="287586"/>
                  </a:lnTo>
                  <a:lnTo>
                    <a:pt x="56831" y="246425"/>
                  </a:lnTo>
                  <a:lnTo>
                    <a:pt x="80417" y="207602"/>
                  </a:lnTo>
                  <a:lnTo>
                    <a:pt x="107523" y="171353"/>
                  </a:lnTo>
                  <a:lnTo>
                    <a:pt x="137914" y="137914"/>
                  </a:lnTo>
                  <a:lnTo>
                    <a:pt x="171352" y="107523"/>
                  </a:lnTo>
                  <a:lnTo>
                    <a:pt x="207602" y="80417"/>
                  </a:lnTo>
                  <a:lnTo>
                    <a:pt x="246425" y="56831"/>
                  </a:lnTo>
                  <a:lnTo>
                    <a:pt x="287586" y="37003"/>
                  </a:lnTo>
                  <a:lnTo>
                    <a:pt x="330847" y="21169"/>
                  </a:lnTo>
                  <a:lnTo>
                    <a:pt x="375973" y="9566"/>
                  </a:lnTo>
                  <a:lnTo>
                    <a:pt x="422726" y="2431"/>
                  </a:lnTo>
                  <a:lnTo>
                    <a:pt x="470870" y="0"/>
                  </a:lnTo>
                  <a:lnTo>
                    <a:pt x="4789926" y="0"/>
                  </a:lnTo>
                  <a:lnTo>
                    <a:pt x="4838070" y="2431"/>
                  </a:lnTo>
                  <a:lnTo>
                    <a:pt x="4884823" y="9566"/>
                  </a:lnTo>
                  <a:lnTo>
                    <a:pt x="4929948" y="21169"/>
                  </a:lnTo>
                  <a:lnTo>
                    <a:pt x="4973210" y="37003"/>
                  </a:lnTo>
                  <a:lnTo>
                    <a:pt x="5014371" y="56831"/>
                  </a:lnTo>
                  <a:lnTo>
                    <a:pt x="5053194" y="80417"/>
                  </a:lnTo>
                  <a:lnTo>
                    <a:pt x="5089443" y="107523"/>
                  </a:lnTo>
                  <a:lnTo>
                    <a:pt x="5122881" y="137914"/>
                  </a:lnTo>
                  <a:lnTo>
                    <a:pt x="5153272" y="171353"/>
                  </a:lnTo>
                  <a:lnTo>
                    <a:pt x="5180379" y="207602"/>
                  </a:lnTo>
                  <a:lnTo>
                    <a:pt x="5203964" y="246425"/>
                  </a:lnTo>
                  <a:lnTo>
                    <a:pt x="5223792" y="287586"/>
                  </a:lnTo>
                  <a:lnTo>
                    <a:pt x="5239626" y="330847"/>
                  </a:lnTo>
                  <a:lnTo>
                    <a:pt x="5251229" y="375973"/>
                  </a:lnTo>
                  <a:lnTo>
                    <a:pt x="5258365" y="422726"/>
                  </a:lnTo>
                  <a:lnTo>
                    <a:pt x="5260503" y="465067"/>
                  </a:lnTo>
                  <a:lnTo>
                    <a:pt x="5260503" y="476672"/>
                  </a:lnTo>
                  <a:lnTo>
                    <a:pt x="5258365" y="519013"/>
                  </a:lnTo>
                  <a:lnTo>
                    <a:pt x="5251229" y="565766"/>
                  </a:lnTo>
                  <a:lnTo>
                    <a:pt x="5239626" y="610892"/>
                  </a:lnTo>
                  <a:lnTo>
                    <a:pt x="5223792" y="654154"/>
                  </a:lnTo>
                  <a:lnTo>
                    <a:pt x="5203964" y="695314"/>
                  </a:lnTo>
                  <a:lnTo>
                    <a:pt x="5180379" y="734138"/>
                  </a:lnTo>
                  <a:lnTo>
                    <a:pt x="5153272" y="770387"/>
                  </a:lnTo>
                  <a:lnTo>
                    <a:pt x="5122881" y="803825"/>
                  </a:lnTo>
                  <a:lnTo>
                    <a:pt x="5089443" y="834216"/>
                  </a:lnTo>
                  <a:lnTo>
                    <a:pt x="5053194" y="861323"/>
                  </a:lnTo>
                  <a:lnTo>
                    <a:pt x="5014371" y="884909"/>
                  </a:lnTo>
                  <a:lnTo>
                    <a:pt x="4973210" y="904737"/>
                  </a:lnTo>
                  <a:lnTo>
                    <a:pt x="4929948" y="920571"/>
                  </a:lnTo>
                  <a:lnTo>
                    <a:pt x="4884823" y="932174"/>
                  </a:lnTo>
                  <a:lnTo>
                    <a:pt x="4838070" y="939309"/>
                  </a:lnTo>
                  <a:lnTo>
                    <a:pt x="4789926" y="94174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648617" y="8316559"/>
              <a:ext cx="5257800" cy="941705"/>
            </a:xfrm>
            <a:custGeom>
              <a:avLst/>
              <a:gdLst/>
              <a:ahLst/>
              <a:cxnLst/>
              <a:rect l="l" t="t" r="r" b="b"/>
              <a:pathLst>
                <a:path w="5257800" h="941704">
                  <a:moveTo>
                    <a:pt x="5257516" y="520679"/>
                  </a:moveTo>
                  <a:lnTo>
                    <a:pt x="5250645" y="565704"/>
                  </a:lnTo>
                  <a:lnTo>
                    <a:pt x="5239043" y="610824"/>
                  </a:lnTo>
                  <a:lnTo>
                    <a:pt x="5223211" y="654081"/>
                  </a:lnTo>
                  <a:lnTo>
                    <a:pt x="5203385" y="695237"/>
                  </a:lnTo>
                  <a:lnTo>
                    <a:pt x="5179802" y="734056"/>
                  </a:lnTo>
                  <a:lnTo>
                    <a:pt x="5152698" y="770301"/>
                  </a:lnTo>
                  <a:lnTo>
                    <a:pt x="5122311" y="803736"/>
                  </a:lnTo>
                  <a:lnTo>
                    <a:pt x="5088876" y="834123"/>
                  </a:lnTo>
                  <a:lnTo>
                    <a:pt x="5052631" y="861227"/>
                  </a:lnTo>
                  <a:lnTo>
                    <a:pt x="5013812" y="884810"/>
                  </a:lnTo>
                  <a:lnTo>
                    <a:pt x="4972656" y="904636"/>
                  </a:lnTo>
                  <a:lnTo>
                    <a:pt x="4929399" y="920468"/>
                  </a:lnTo>
                  <a:lnTo>
                    <a:pt x="4884278" y="932070"/>
                  </a:lnTo>
                  <a:lnTo>
                    <a:pt x="4837531" y="939204"/>
                  </a:lnTo>
                  <a:lnTo>
                    <a:pt x="4789392" y="941635"/>
                  </a:lnTo>
                  <a:lnTo>
                    <a:pt x="470817" y="941635"/>
                  </a:lnTo>
                  <a:lnTo>
                    <a:pt x="422679" y="939204"/>
                  </a:lnTo>
                  <a:lnTo>
                    <a:pt x="375931" y="932070"/>
                  </a:lnTo>
                  <a:lnTo>
                    <a:pt x="330810" y="920468"/>
                  </a:lnTo>
                  <a:lnTo>
                    <a:pt x="287553" y="904636"/>
                  </a:lnTo>
                  <a:lnTo>
                    <a:pt x="246397" y="884810"/>
                  </a:lnTo>
                  <a:lnTo>
                    <a:pt x="207578" y="861227"/>
                  </a:lnTo>
                  <a:lnTo>
                    <a:pt x="171333" y="834123"/>
                  </a:lnTo>
                  <a:lnTo>
                    <a:pt x="137899" y="803736"/>
                  </a:lnTo>
                  <a:lnTo>
                    <a:pt x="107511" y="770301"/>
                  </a:lnTo>
                  <a:lnTo>
                    <a:pt x="80408" y="734056"/>
                  </a:lnTo>
                  <a:lnTo>
                    <a:pt x="56825" y="695237"/>
                  </a:lnTo>
                  <a:lnTo>
                    <a:pt x="36999" y="654081"/>
                  </a:lnTo>
                  <a:lnTo>
                    <a:pt x="21166" y="610824"/>
                  </a:lnTo>
                  <a:lnTo>
                    <a:pt x="9565" y="565703"/>
                  </a:lnTo>
                  <a:lnTo>
                    <a:pt x="2430" y="518956"/>
                  </a:lnTo>
                  <a:lnTo>
                    <a:pt x="0" y="470817"/>
                  </a:lnTo>
                  <a:lnTo>
                    <a:pt x="2430" y="422679"/>
                  </a:lnTo>
                  <a:lnTo>
                    <a:pt x="9565" y="375931"/>
                  </a:lnTo>
                  <a:lnTo>
                    <a:pt x="21167" y="330810"/>
                  </a:lnTo>
                  <a:lnTo>
                    <a:pt x="36999" y="287554"/>
                  </a:lnTo>
                  <a:lnTo>
                    <a:pt x="56825" y="246398"/>
                  </a:lnTo>
                  <a:lnTo>
                    <a:pt x="80408" y="207579"/>
                  </a:lnTo>
                  <a:lnTo>
                    <a:pt x="107511" y="171334"/>
                  </a:lnTo>
                  <a:lnTo>
                    <a:pt x="137899" y="137899"/>
                  </a:lnTo>
                  <a:lnTo>
                    <a:pt x="171333" y="107511"/>
                  </a:lnTo>
                  <a:lnTo>
                    <a:pt x="207578" y="80408"/>
                  </a:lnTo>
                  <a:lnTo>
                    <a:pt x="246397" y="56825"/>
                  </a:lnTo>
                  <a:lnTo>
                    <a:pt x="287554" y="36999"/>
                  </a:lnTo>
                  <a:lnTo>
                    <a:pt x="330810" y="21167"/>
                  </a:lnTo>
                  <a:lnTo>
                    <a:pt x="375931" y="9565"/>
                  </a:lnTo>
                  <a:lnTo>
                    <a:pt x="422679" y="2430"/>
                  </a:lnTo>
                  <a:lnTo>
                    <a:pt x="470817" y="0"/>
                  </a:lnTo>
                  <a:lnTo>
                    <a:pt x="4789392" y="0"/>
                  </a:lnTo>
                  <a:lnTo>
                    <a:pt x="4837531" y="2430"/>
                  </a:lnTo>
                  <a:lnTo>
                    <a:pt x="4884278" y="9565"/>
                  </a:lnTo>
                  <a:lnTo>
                    <a:pt x="4929399" y="21166"/>
                  </a:lnTo>
                  <a:lnTo>
                    <a:pt x="4972656" y="36999"/>
                  </a:lnTo>
                  <a:lnTo>
                    <a:pt x="5013812" y="56824"/>
                  </a:lnTo>
                  <a:lnTo>
                    <a:pt x="5052631" y="80408"/>
                  </a:lnTo>
                  <a:lnTo>
                    <a:pt x="5088876" y="107511"/>
                  </a:lnTo>
                  <a:lnTo>
                    <a:pt x="5122311" y="137899"/>
                  </a:lnTo>
                  <a:lnTo>
                    <a:pt x="5152698" y="171333"/>
                  </a:lnTo>
                  <a:lnTo>
                    <a:pt x="5179802" y="207578"/>
                  </a:lnTo>
                  <a:lnTo>
                    <a:pt x="5203385" y="246397"/>
                  </a:lnTo>
                  <a:lnTo>
                    <a:pt x="5223211" y="287553"/>
                  </a:lnTo>
                  <a:lnTo>
                    <a:pt x="5239043" y="330810"/>
                  </a:lnTo>
                  <a:lnTo>
                    <a:pt x="5250645" y="375931"/>
                  </a:lnTo>
                  <a:lnTo>
                    <a:pt x="5257516" y="420956"/>
                  </a:lnTo>
                </a:path>
              </a:pathLst>
            </a:custGeom>
            <a:ln w="76200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3639302" y="8384992"/>
            <a:ext cx="3279140" cy="749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9410" marR="5080" indent="-347345">
              <a:lnSpc>
                <a:spcPct val="115900"/>
              </a:lnSpc>
              <a:spcBef>
                <a:spcPts val="95"/>
              </a:spcBef>
              <a:tabLst>
                <a:tab pos="2745740" algn="l"/>
              </a:tabLst>
            </a:pPr>
            <a:r>
              <a:rPr dirty="0" sz="2050" spc="59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9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6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2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8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0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05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050" spc="47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05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dirty="0" sz="2050" spc="615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2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-165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0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7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65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7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58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50" spc="-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49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50" spc="-3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50" spc="-35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021659" y="3456961"/>
            <a:ext cx="1126236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INTRODUCTION</a:t>
            </a:r>
            <a:r>
              <a:rPr dirty="0" spc="-170"/>
              <a:t> </a:t>
            </a:r>
            <a:r>
              <a:rPr dirty="0" spc="80"/>
              <a:t>TO</a:t>
            </a:r>
            <a:r>
              <a:rPr dirty="0" spc="-165"/>
              <a:t> </a:t>
            </a:r>
            <a:r>
              <a:rPr dirty="0" spc="-10"/>
              <a:t>STREAMLIT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4785938" y="5631618"/>
            <a:ext cx="8716010" cy="706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450" spc="225">
                <a:solidFill>
                  <a:srgbClr val="535353"/>
                </a:solidFill>
                <a:latin typeface="Lucida Sans Unicode"/>
                <a:cs typeface="Lucida Sans Unicode"/>
              </a:rPr>
              <a:t>Python</a:t>
            </a:r>
            <a:r>
              <a:rPr dirty="0" sz="4450" spc="-2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4450" spc="-175">
                <a:solidFill>
                  <a:srgbClr val="535353"/>
                </a:solidFill>
                <a:latin typeface="Lucida Sans Unicode"/>
                <a:cs typeface="Lucida Sans Unicode"/>
              </a:rPr>
              <a:t>→</a:t>
            </a:r>
            <a:r>
              <a:rPr dirty="0" sz="4450" spc="-2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4450" spc="535">
                <a:solidFill>
                  <a:srgbClr val="535353"/>
                </a:solidFill>
                <a:latin typeface="Lucida Sans Unicode"/>
                <a:cs typeface="Lucida Sans Unicode"/>
              </a:rPr>
              <a:t>Web</a:t>
            </a:r>
            <a:r>
              <a:rPr dirty="0" sz="4450" spc="-2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4450" spc="100">
                <a:solidFill>
                  <a:srgbClr val="535353"/>
                </a:solidFill>
                <a:latin typeface="Lucida Sans Unicode"/>
                <a:cs typeface="Lucida Sans Unicode"/>
              </a:rPr>
              <a:t>Apps,</a:t>
            </a:r>
            <a:r>
              <a:rPr dirty="0" sz="4450" spc="-2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4450" spc="155">
                <a:solidFill>
                  <a:srgbClr val="535353"/>
                </a:solidFill>
                <a:latin typeface="Lucida Sans Unicode"/>
                <a:cs typeface="Lucida Sans Unicode"/>
              </a:rPr>
              <a:t>Instantly</a:t>
            </a:r>
            <a:endParaRPr sz="4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99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45"/>
              <a:t>WHAT</a:t>
            </a:r>
            <a:r>
              <a:rPr dirty="0" spc="-125"/>
              <a:t> </a:t>
            </a:r>
            <a:r>
              <a:rPr dirty="0" spc="-459"/>
              <a:t>IS</a:t>
            </a:r>
            <a:r>
              <a:rPr dirty="0" spc="-125"/>
              <a:t> </a:t>
            </a:r>
            <a:r>
              <a:rPr dirty="0" spc="-10"/>
              <a:t>STREAMLIT?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40" y="4224177"/>
            <a:ext cx="152400" cy="152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40" y="4805202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40" y="5386227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40" y="5967252"/>
            <a:ext cx="152400" cy="1523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893683" y="3932547"/>
            <a:ext cx="10499090" cy="23495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770"/>
              </a:spcBef>
            </a:pPr>
            <a:r>
              <a:rPr dirty="0" sz="3250" spc="75">
                <a:solidFill>
                  <a:srgbClr val="535353"/>
                </a:solidFill>
                <a:latin typeface="Lucida Sans Unicode"/>
                <a:cs typeface="Lucida Sans Unicode"/>
              </a:rPr>
              <a:t>Open-</a:t>
            </a:r>
            <a:r>
              <a:rPr dirty="0" sz="3250" spc="175">
                <a:solidFill>
                  <a:srgbClr val="535353"/>
                </a:solidFill>
                <a:latin typeface="Lucida Sans Unicode"/>
                <a:cs typeface="Lucida Sans Unicode"/>
              </a:rPr>
              <a:t>source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Python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75">
                <a:solidFill>
                  <a:srgbClr val="535353"/>
                </a:solidFill>
                <a:latin typeface="Lucida Sans Unicode"/>
                <a:cs typeface="Lucida Sans Unicode"/>
              </a:rPr>
              <a:t>library</a:t>
            </a:r>
            <a:endParaRPr sz="3250">
              <a:latin typeface="Lucida Sans Unicode"/>
              <a:cs typeface="Lucida Sans Unicode"/>
            </a:endParaRPr>
          </a:p>
          <a:p>
            <a:pPr marL="115570" marR="5080" indent="-103505">
              <a:lnSpc>
                <a:spcPct val="117300"/>
              </a:lnSpc>
            </a:pPr>
            <a:r>
              <a:rPr dirty="0" sz="3250" spc="95">
                <a:solidFill>
                  <a:srgbClr val="535353"/>
                </a:solidFill>
                <a:latin typeface="Lucida Sans Unicode"/>
                <a:cs typeface="Lucida Sans Unicode"/>
              </a:rPr>
              <a:t>Builds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54">
                <a:solidFill>
                  <a:srgbClr val="535353"/>
                </a:solidFill>
                <a:latin typeface="Lucida Sans Unicode"/>
                <a:cs typeface="Lucida Sans Unicode"/>
              </a:rPr>
              <a:t>web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apps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45">
                <a:solidFill>
                  <a:srgbClr val="535353"/>
                </a:solidFill>
                <a:latin typeface="Lucida Sans Unicode"/>
                <a:cs typeface="Lucida Sans Unicode"/>
              </a:rPr>
              <a:t>directly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55">
                <a:solidFill>
                  <a:srgbClr val="535353"/>
                </a:solidFill>
                <a:latin typeface="Lucida Sans Unicode"/>
                <a:cs typeface="Lucida Sans Unicode"/>
              </a:rPr>
              <a:t>from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Python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40">
                <a:solidFill>
                  <a:srgbClr val="535353"/>
                </a:solidFill>
                <a:latin typeface="Lucida Sans Unicode"/>
                <a:cs typeface="Lucida Sans Unicode"/>
              </a:rPr>
              <a:t>scripts </a:t>
            </a:r>
            <a:r>
              <a:rPr dirty="0" sz="3250" spc="130">
                <a:solidFill>
                  <a:srgbClr val="535353"/>
                </a:solidFill>
                <a:latin typeface="Lucida Sans Unicode"/>
                <a:cs typeface="Lucida Sans Unicode"/>
              </a:rPr>
              <a:t>Designed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for</a:t>
            </a:r>
            <a:r>
              <a:rPr dirty="0" sz="3250" spc="-18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10">
                <a:solidFill>
                  <a:srgbClr val="535353"/>
                </a:solidFill>
                <a:latin typeface="Lucida Sans Unicode"/>
                <a:cs typeface="Lucida Sans Unicode"/>
              </a:rPr>
              <a:t>data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science,</a:t>
            </a:r>
            <a:r>
              <a:rPr dirty="0" sz="3250" spc="-18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535353"/>
                </a:solidFill>
                <a:latin typeface="Lucida Sans Unicode"/>
                <a:cs typeface="Lucida Sans Unicode"/>
              </a:rPr>
              <a:t>ML,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5">
                <a:solidFill>
                  <a:srgbClr val="535353"/>
                </a:solidFill>
                <a:latin typeface="Lucida Sans Unicode"/>
                <a:cs typeface="Lucida Sans Unicode"/>
              </a:rPr>
              <a:t>and</a:t>
            </a:r>
            <a:r>
              <a:rPr dirty="0" sz="3250" spc="-18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45">
                <a:solidFill>
                  <a:srgbClr val="535353"/>
                </a:solidFill>
                <a:latin typeface="Lucida Sans Unicode"/>
                <a:cs typeface="Lucida Sans Unicode"/>
              </a:rPr>
              <a:t>dashboards </a:t>
            </a:r>
            <a:r>
              <a:rPr dirty="0" sz="3250" spc="90">
                <a:solidFill>
                  <a:srgbClr val="535353"/>
                </a:solidFill>
                <a:latin typeface="Lucida Sans Unicode"/>
                <a:cs typeface="Lucida Sans Unicode"/>
              </a:rPr>
              <a:t>No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54">
                <a:solidFill>
                  <a:srgbClr val="535353"/>
                </a:solidFill>
                <a:latin typeface="Lucida Sans Unicode"/>
                <a:cs typeface="Lucida Sans Unicode"/>
              </a:rPr>
              <a:t>web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5">
                <a:solidFill>
                  <a:srgbClr val="535353"/>
                </a:solidFill>
                <a:latin typeface="Lucida Sans Unicode"/>
                <a:cs typeface="Lucida Sans Unicode"/>
              </a:rPr>
              <a:t>development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10">
                <a:solidFill>
                  <a:srgbClr val="535353"/>
                </a:solidFill>
                <a:latin typeface="Lucida Sans Unicode"/>
                <a:cs typeface="Lucida Sans Unicode"/>
              </a:rPr>
              <a:t>needed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(no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00">
                <a:solidFill>
                  <a:srgbClr val="535353"/>
                </a:solidFill>
                <a:latin typeface="Lucida Sans Unicode"/>
                <a:cs typeface="Lucida Sans Unicode"/>
              </a:rPr>
              <a:t>HTML/CSS/JS)</a:t>
            </a:r>
            <a:endParaRPr sz="325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01269" y="3963565"/>
            <a:ext cx="11005185" cy="23266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3525" indent="-262255">
              <a:lnSpc>
                <a:spcPct val="100000"/>
              </a:lnSpc>
              <a:spcBef>
                <a:spcPts val="125"/>
              </a:spcBef>
              <a:buSzPct val="84931"/>
              <a:buFont typeface="Lucida Sans Unicode"/>
              <a:buChar char="•"/>
              <a:tabLst>
                <a:tab pos="263525" algn="l"/>
              </a:tabLst>
            </a:pPr>
            <a:r>
              <a:rPr dirty="0" sz="3650" spc="-405">
                <a:solidFill>
                  <a:srgbClr val="535353"/>
                </a:solidFill>
                <a:latin typeface="SimSun-ExtB"/>
                <a:cs typeface="SimSun-ExtB"/>
              </a:rPr>
              <a:t>⚡</a:t>
            </a:r>
            <a:r>
              <a:rPr dirty="0" sz="3650" spc="-1000">
                <a:solidFill>
                  <a:srgbClr val="535353"/>
                </a:solidFill>
                <a:latin typeface="SimSun-ExtB"/>
                <a:cs typeface="SimSun-ExtB"/>
              </a:rPr>
              <a:t> </a:t>
            </a:r>
            <a:r>
              <a:rPr dirty="0" sz="3250" spc="70">
                <a:solidFill>
                  <a:srgbClr val="535353"/>
                </a:solidFill>
                <a:latin typeface="Lucida Sans Unicode"/>
                <a:cs typeface="Lucida Sans Unicode"/>
              </a:rPr>
              <a:t>Turn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40">
                <a:solidFill>
                  <a:srgbClr val="535353"/>
                </a:solidFill>
                <a:latin typeface="Lucida Sans Unicode"/>
                <a:cs typeface="Lucida Sans Unicode"/>
              </a:rPr>
              <a:t>code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30">
                <a:solidFill>
                  <a:srgbClr val="535353"/>
                </a:solidFill>
                <a:latin typeface="Lucida Sans Unicode"/>
                <a:cs typeface="Lucida Sans Unicode"/>
              </a:rPr>
              <a:t>→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apps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535353"/>
                </a:solidFill>
                <a:latin typeface="Lucida Sans Unicode"/>
                <a:cs typeface="Lucida Sans Unicode"/>
              </a:rPr>
              <a:t>in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30">
                <a:solidFill>
                  <a:srgbClr val="535353"/>
                </a:solidFill>
                <a:latin typeface="Lucida Sans Unicode"/>
                <a:cs typeface="Lucida Sans Unicode"/>
              </a:rPr>
              <a:t>minutes</a:t>
            </a:r>
            <a:endParaRPr sz="3250">
              <a:latin typeface="Lucida Sans Unicode"/>
              <a:cs typeface="Lucida Sans Unicode"/>
            </a:endParaRPr>
          </a:p>
          <a:p>
            <a:pPr marL="160655" indent="-157480">
              <a:lnSpc>
                <a:spcPct val="100000"/>
              </a:lnSpc>
              <a:spcBef>
                <a:spcPts val="195"/>
              </a:spcBef>
              <a:buSzPct val="49315"/>
              <a:buFont typeface="Lucida Sans Unicode"/>
              <a:buChar char="•"/>
              <a:tabLst>
                <a:tab pos="160655" algn="l"/>
              </a:tabLst>
            </a:pPr>
            <a:r>
              <a:rPr dirty="0" sz="3650" spc="-2045">
                <a:solidFill>
                  <a:srgbClr val="535353"/>
                </a:solidFill>
                <a:latin typeface="Webdings"/>
                <a:cs typeface="Webdings"/>
              </a:rPr>
              <a:t>🧑‍💻</a:t>
            </a:r>
            <a:r>
              <a:rPr dirty="0" sz="3650" spc="-9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3250" spc="90">
                <a:solidFill>
                  <a:srgbClr val="535353"/>
                </a:solidFill>
                <a:latin typeface="Lucida Sans Unicode"/>
                <a:cs typeface="Lucida Sans Unicode"/>
              </a:rPr>
              <a:t>Beginner-</a:t>
            </a:r>
            <a:r>
              <a:rPr dirty="0" sz="3250" spc="80">
                <a:solidFill>
                  <a:srgbClr val="535353"/>
                </a:solidFill>
                <a:latin typeface="Lucida Sans Unicode"/>
                <a:cs typeface="Lucida Sans Unicode"/>
              </a:rPr>
              <a:t>friendly,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14">
                <a:solidFill>
                  <a:srgbClr val="535353"/>
                </a:solidFill>
                <a:latin typeface="Lucida Sans Unicode"/>
                <a:cs typeface="Lucida Sans Unicode"/>
              </a:rPr>
              <a:t>no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04">
                <a:solidFill>
                  <a:srgbClr val="535353"/>
                </a:solidFill>
                <a:latin typeface="Lucida Sans Unicode"/>
                <a:cs typeface="Lucida Sans Unicode"/>
              </a:rPr>
              <a:t>steep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00">
                <a:solidFill>
                  <a:srgbClr val="535353"/>
                </a:solidFill>
                <a:latin typeface="Lucida Sans Unicode"/>
                <a:cs typeface="Lucida Sans Unicode"/>
              </a:rPr>
              <a:t>learning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85">
                <a:solidFill>
                  <a:srgbClr val="535353"/>
                </a:solidFill>
                <a:latin typeface="Lucida Sans Unicode"/>
                <a:cs typeface="Lucida Sans Unicode"/>
              </a:rPr>
              <a:t>curve</a:t>
            </a:r>
            <a:endParaRPr sz="3250">
              <a:latin typeface="Lucida Sans Unicode"/>
              <a:cs typeface="Lucida Sans Unicode"/>
            </a:endParaRPr>
          </a:p>
          <a:p>
            <a:pPr marL="160655" indent="-157480">
              <a:lnSpc>
                <a:spcPct val="100000"/>
              </a:lnSpc>
              <a:spcBef>
                <a:spcPts val="195"/>
              </a:spcBef>
              <a:buSzPct val="49315"/>
              <a:buFont typeface="Lucida Sans Unicode"/>
              <a:buChar char="•"/>
              <a:tabLst>
                <a:tab pos="160655" algn="l"/>
              </a:tabLst>
            </a:pPr>
            <a:r>
              <a:rPr dirty="0" sz="3650" spc="2880">
                <a:solidFill>
                  <a:srgbClr val="535353"/>
                </a:solidFill>
                <a:latin typeface="Webdings"/>
                <a:cs typeface="Webdings"/>
              </a:rPr>
              <a:t>🎛</a:t>
            </a:r>
            <a:r>
              <a:rPr dirty="0" sz="3650" spc="-95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widgets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90">
                <a:solidFill>
                  <a:srgbClr val="535353"/>
                </a:solidFill>
                <a:latin typeface="Lucida Sans Unicode"/>
                <a:cs typeface="Lucida Sans Unicode"/>
              </a:rPr>
              <a:t>(sliders,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0">
                <a:solidFill>
                  <a:srgbClr val="535353"/>
                </a:solidFill>
                <a:latin typeface="Lucida Sans Unicode"/>
                <a:cs typeface="Lucida Sans Unicode"/>
              </a:rPr>
              <a:t>buttons,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20">
                <a:solidFill>
                  <a:srgbClr val="535353"/>
                </a:solidFill>
                <a:latin typeface="Lucida Sans Unicode"/>
                <a:cs typeface="Lucida Sans Unicode"/>
              </a:rPr>
              <a:t>uploaders)</a:t>
            </a:r>
            <a:endParaRPr sz="3250">
              <a:latin typeface="Lucida Sans Unicode"/>
              <a:cs typeface="Lucida Sans Unicode"/>
            </a:endParaRPr>
          </a:p>
          <a:p>
            <a:pPr marL="160655" indent="-157480">
              <a:lnSpc>
                <a:spcPct val="100000"/>
              </a:lnSpc>
              <a:spcBef>
                <a:spcPts val="295"/>
              </a:spcBef>
              <a:buSzPct val="50704"/>
              <a:buFont typeface="Lucida Sans Unicode"/>
              <a:buChar char="•"/>
              <a:tabLst>
                <a:tab pos="160655" algn="l"/>
              </a:tabLst>
            </a:pPr>
            <a:r>
              <a:rPr dirty="0" sz="3550" spc="1880">
                <a:solidFill>
                  <a:srgbClr val="535353"/>
                </a:solidFill>
                <a:latin typeface="Courier New"/>
                <a:cs typeface="Courier New"/>
              </a:rPr>
              <a:t>📊</a:t>
            </a:r>
            <a:r>
              <a:rPr dirty="0" sz="3550" spc="-1310">
                <a:solidFill>
                  <a:srgbClr val="535353"/>
                </a:solidFill>
                <a:latin typeface="Courier New"/>
                <a:cs typeface="Courier New"/>
              </a:rPr>
              <a:t> </a:t>
            </a:r>
            <a:r>
              <a:rPr dirty="0" sz="3250" spc="204">
                <a:solidFill>
                  <a:srgbClr val="535353"/>
                </a:solidFill>
                <a:latin typeface="Lucida Sans Unicode"/>
                <a:cs typeface="Lucida Sans Unicode"/>
              </a:rPr>
              <a:t>Works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50">
                <a:solidFill>
                  <a:srgbClr val="535353"/>
                </a:solidFill>
                <a:latin typeface="Lucida Sans Unicode"/>
                <a:cs typeface="Lucida Sans Unicode"/>
              </a:rPr>
              <a:t>with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Python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55">
                <a:solidFill>
                  <a:srgbClr val="535353"/>
                </a:solidFill>
                <a:latin typeface="Lucida Sans Unicode"/>
                <a:cs typeface="Lucida Sans Unicode"/>
              </a:rPr>
              <a:t>libraries: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30">
                <a:solidFill>
                  <a:srgbClr val="535353"/>
                </a:solidFill>
                <a:latin typeface="Lucida Sans Unicode"/>
                <a:cs typeface="Lucida Sans Unicode"/>
              </a:rPr>
              <a:t>pandas,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535353"/>
                </a:solidFill>
                <a:latin typeface="Lucida Sans Unicode"/>
                <a:cs typeface="Lucida Sans Unicode"/>
              </a:rPr>
              <a:t>matplotlib,</a:t>
            </a:r>
            <a:endParaRPr sz="32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WHY</a:t>
            </a:r>
            <a:r>
              <a:rPr dirty="0" spc="-120"/>
              <a:t> </a:t>
            </a:r>
            <a:r>
              <a:rPr dirty="0" spc="-30"/>
              <a:t>STREAMLIT?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0511" rIns="0" bIns="0" rtlCol="0" vert="horz">
            <a:spAutoFit/>
          </a:bodyPr>
          <a:lstStyle/>
          <a:p>
            <a:pPr marL="89916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INSTALLATION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98333" y="4698699"/>
            <a:ext cx="4843145" cy="2930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985" indent="704215">
              <a:lnSpc>
                <a:spcPct val="117300"/>
              </a:lnSpc>
              <a:spcBef>
                <a:spcPts val="95"/>
              </a:spcBef>
              <a:buAutoNum type="arabicPeriod"/>
              <a:tabLst>
                <a:tab pos="716915" algn="l"/>
              </a:tabLst>
            </a:pPr>
            <a:r>
              <a:rPr dirty="0" sz="3250" spc="70">
                <a:solidFill>
                  <a:srgbClr val="535353"/>
                </a:solidFill>
                <a:latin typeface="Lucida Sans Unicode"/>
                <a:cs typeface="Lucida Sans Unicode"/>
              </a:rPr>
              <a:t>install</a:t>
            </a:r>
            <a:r>
              <a:rPr dirty="0" sz="3250" spc="-22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535353"/>
                </a:solidFill>
                <a:latin typeface="Lucida Sans Unicode"/>
                <a:cs typeface="Lucida Sans Unicode"/>
              </a:rPr>
              <a:t>python(3.8+)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Run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535353"/>
                </a:solidFill>
                <a:latin typeface="Lucida Sans Unicode"/>
                <a:cs typeface="Lucida Sans Unicode"/>
              </a:rPr>
              <a:t>in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80">
                <a:solidFill>
                  <a:srgbClr val="535353"/>
                </a:solidFill>
                <a:latin typeface="Lucida Sans Unicode"/>
                <a:cs typeface="Lucida Sans Unicode"/>
              </a:rPr>
              <a:t>terminal:</a:t>
            </a:r>
            <a:endParaRPr sz="3250">
              <a:latin typeface="Lucida Sans Unicode"/>
              <a:cs typeface="Lucida Sans Unicode"/>
            </a:endParaRPr>
          </a:p>
          <a:p>
            <a:pPr marL="717550" indent="-413384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717550" algn="l"/>
              </a:tabLst>
            </a:pPr>
            <a:r>
              <a:rPr dirty="0" sz="3250" spc="114">
                <a:solidFill>
                  <a:srgbClr val="535353"/>
                </a:solidFill>
                <a:latin typeface="Lucida Sans Unicode"/>
                <a:cs typeface="Lucida Sans Unicode"/>
              </a:rPr>
              <a:t>pip</a:t>
            </a:r>
            <a:r>
              <a:rPr dirty="0" sz="3250" spc="-22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70">
                <a:solidFill>
                  <a:srgbClr val="535353"/>
                </a:solidFill>
                <a:latin typeface="Lucida Sans Unicode"/>
                <a:cs typeface="Lucida Sans Unicode"/>
              </a:rPr>
              <a:t>install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streamlit</a:t>
            </a:r>
            <a:endParaRPr sz="3250">
              <a:latin typeface="Lucida Sans Unicode"/>
              <a:cs typeface="Lucida Sans Unicode"/>
            </a:endParaRPr>
          </a:p>
          <a:p>
            <a:pPr marL="716915" indent="-40322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716915" algn="l"/>
              </a:tabLst>
            </a:pPr>
            <a:r>
              <a:rPr dirty="0" sz="3250" spc="145">
                <a:solidFill>
                  <a:srgbClr val="535353"/>
                </a:solidFill>
                <a:latin typeface="Lucida Sans Unicode"/>
                <a:cs typeface="Lucida Sans Unicode"/>
              </a:rPr>
              <a:t>Test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70">
                <a:solidFill>
                  <a:srgbClr val="535353"/>
                </a:solidFill>
                <a:latin typeface="Lucida Sans Unicode"/>
                <a:cs typeface="Lucida Sans Unicode"/>
              </a:rPr>
              <a:t>with:</a:t>
            </a:r>
            <a:endParaRPr sz="3250">
              <a:latin typeface="Lucida Sans Unicode"/>
              <a:cs typeface="Lucida Sans Unicode"/>
            </a:endParaRPr>
          </a:p>
          <a:p>
            <a:pPr marL="716915" indent="-40322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716915" algn="l"/>
              </a:tabLst>
            </a:pPr>
            <a:r>
              <a:rPr dirty="0" sz="3250" spc="135">
                <a:solidFill>
                  <a:srgbClr val="535353"/>
                </a:solidFill>
                <a:latin typeface="Lucida Sans Unicode"/>
                <a:cs typeface="Lucida Sans Unicode"/>
              </a:rPr>
              <a:t>streamlit</a:t>
            </a:r>
            <a:r>
              <a:rPr dirty="0" sz="3250" spc="-19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60">
                <a:solidFill>
                  <a:srgbClr val="535353"/>
                </a:solidFill>
                <a:latin typeface="Lucida Sans Unicode"/>
                <a:cs typeface="Lucida Sans Unicode"/>
              </a:rPr>
              <a:t>hello</a:t>
            </a:r>
            <a:endParaRPr sz="32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858" rIns="0" bIns="0" rtlCol="0" vert="horz">
            <a:spAutoFit/>
          </a:bodyPr>
          <a:lstStyle/>
          <a:p>
            <a:pPr marL="835660">
              <a:lnSpc>
                <a:spcPct val="100000"/>
              </a:lnSpc>
              <a:spcBef>
                <a:spcPts val="100"/>
              </a:spcBef>
            </a:pPr>
            <a:r>
              <a:rPr dirty="0" spc="190"/>
              <a:t>DEMO</a:t>
            </a:r>
            <a:r>
              <a:rPr dirty="0" spc="-130"/>
              <a:t> </a:t>
            </a:r>
            <a:r>
              <a:rPr dirty="0" spc="135"/>
              <a:t>CODE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0449" rIns="0" bIns="0" rtlCol="0" vert="horz">
            <a:spAutoFit/>
          </a:bodyPr>
          <a:lstStyle/>
          <a:p>
            <a:pPr marL="1273810">
              <a:lnSpc>
                <a:spcPct val="100000"/>
              </a:lnSpc>
              <a:spcBef>
                <a:spcPts val="770"/>
              </a:spcBef>
            </a:pPr>
            <a:r>
              <a:rPr dirty="0" spc="140"/>
              <a:t>python</a:t>
            </a:r>
          </a:p>
          <a:p>
            <a:pPr marL="1273810" marR="3018155">
              <a:lnSpc>
                <a:spcPct val="117300"/>
              </a:lnSpc>
            </a:pPr>
            <a:r>
              <a:rPr dirty="0" spc="135"/>
              <a:t>import</a:t>
            </a:r>
            <a:r>
              <a:rPr dirty="0" spc="-210"/>
              <a:t> </a:t>
            </a:r>
            <a:r>
              <a:rPr dirty="0" spc="135"/>
              <a:t>streamlit</a:t>
            </a:r>
            <a:r>
              <a:rPr dirty="0" spc="-210"/>
              <a:t> </a:t>
            </a:r>
            <a:r>
              <a:rPr dirty="0" spc="160"/>
              <a:t>as</a:t>
            </a:r>
            <a:r>
              <a:rPr dirty="0" spc="-204"/>
              <a:t> </a:t>
            </a:r>
            <a:r>
              <a:rPr dirty="0" spc="145"/>
              <a:t>st </a:t>
            </a:r>
            <a:r>
              <a:rPr dirty="0" spc="105"/>
              <a:t>st.title(“Hello</a:t>
            </a:r>
            <a:r>
              <a:rPr dirty="0" spc="-180"/>
              <a:t> </a:t>
            </a:r>
            <a:r>
              <a:rPr dirty="0" spc="155"/>
              <a:t>streamlit”)</a:t>
            </a:r>
          </a:p>
          <a:p>
            <a:pPr marL="1273810" marR="5080">
              <a:lnSpc>
                <a:spcPct val="117300"/>
              </a:lnSpc>
            </a:pPr>
            <a:r>
              <a:rPr dirty="0" spc="105"/>
              <a:t>name=st.text_input(“Enter</a:t>
            </a:r>
            <a:r>
              <a:rPr dirty="0" spc="-160"/>
              <a:t> </a:t>
            </a:r>
            <a:r>
              <a:rPr dirty="0" spc="110"/>
              <a:t>your</a:t>
            </a:r>
            <a:r>
              <a:rPr dirty="0" spc="-160"/>
              <a:t> </a:t>
            </a:r>
            <a:r>
              <a:rPr dirty="0" spc="215"/>
              <a:t>name) </a:t>
            </a:r>
            <a:r>
              <a:rPr dirty="0" spc="130"/>
              <a:t>st.write(“Hello”,name)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61535" cy="3533775"/>
            <a:chOff x="0" y="0"/>
            <a:chExt cx="4661535" cy="353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6" y="0"/>
              <a:ext cx="2400299" cy="294736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5" y="0"/>
              <a:ext cx="2349499" cy="300987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5" y="0"/>
              <a:ext cx="2298699" cy="306112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20" y="0"/>
              <a:ext cx="2247899" cy="312120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9" y="0"/>
              <a:ext cx="2197099" cy="317380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9" y="0"/>
              <a:ext cx="2146299" cy="322872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43" y="0"/>
              <a:ext cx="2095499" cy="327584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2045488" cy="332767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4" y="0"/>
              <a:ext cx="1981199" cy="337695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9" y="0"/>
              <a:ext cx="1930399" cy="343298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593" y="0"/>
              <a:ext cx="1866899" cy="348292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62" y="0"/>
              <a:ext cx="1816099" cy="353341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036" y="0"/>
              <a:ext cx="2044699" cy="325668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864" y="0"/>
              <a:ext cx="2273299" cy="298475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78" y="0"/>
              <a:ext cx="2527299" cy="273282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54" y="0"/>
              <a:ext cx="2768599" cy="246655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09" y="0"/>
              <a:ext cx="3022599" cy="22072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953" y="0"/>
              <a:ext cx="3289299" cy="195545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09" y="0"/>
              <a:ext cx="3555999" cy="170047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94" y="0"/>
              <a:ext cx="3822699" cy="1447295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66" y="0"/>
              <a:ext cx="4102099" cy="119525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39" y="0"/>
              <a:ext cx="4381499" cy="99308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0" y="0"/>
              <a:ext cx="4661539" cy="892269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6771012" y="1583949"/>
            <a:ext cx="520319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95"/>
              <a:t>ADVANTAGES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5424877" y="3932547"/>
            <a:ext cx="8208009" cy="3511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03705">
              <a:lnSpc>
                <a:spcPct val="117300"/>
              </a:lnSpc>
              <a:spcBef>
                <a:spcPts val="95"/>
              </a:spcBef>
            </a:pPr>
            <a:r>
              <a:rPr dirty="0" sz="3250" spc="90">
                <a:solidFill>
                  <a:srgbClr val="535353"/>
                </a:solidFill>
                <a:latin typeface="Lucida Sans Unicode"/>
                <a:cs typeface="Lucida Sans Unicode"/>
              </a:rPr>
              <a:t>Beginner-</a:t>
            </a:r>
            <a:r>
              <a:rPr dirty="0" sz="3250" spc="105">
                <a:solidFill>
                  <a:srgbClr val="535353"/>
                </a:solidFill>
                <a:latin typeface="Lucida Sans Unicode"/>
                <a:cs typeface="Lucida Sans Unicode"/>
              </a:rPr>
              <a:t>friendly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(no</a:t>
            </a:r>
            <a:r>
              <a:rPr dirty="0" sz="3250" spc="-19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54">
                <a:solidFill>
                  <a:srgbClr val="535353"/>
                </a:solidFill>
                <a:latin typeface="Lucida Sans Unicode"/>
                <a:cs typeface="Lucida Sans Unicode"/>
              </a:rPr>
              <a:t>web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dev </a:t>
            </a:r>
            <a:r>
              <a:rPr dirty="0" sz="3250" spc="145">
                <a:solidFill>
                  <a:srgbClr val="535353"/>
                </a:solidFill>
                <a:latin typeface="Lucida Sans Unicode"/>
                <a:cs typeface="Lucida Sans Unicode"/>
              </a:rPr>
              <a:t>required)</a:t>
            </a:r>
            <a:endParaRPr sz="3250">
              <a:latin typeface="Lucida Sans Unicode"/>
              <a:cs typeface="Lucida Sans Unicode"/>
            </a:endParaRPr>
          </a:p>
          <a:p>
            <a:pPr marL="115570" marR="5080" indent="-103505">
              <a:lnSpc>
                <a:spcPct val="117300"/>
              </a:lnSpc>
            </a:pPr>
            <a:r>
              <a:rPr dirty="0" sz="3250" spc="150">
                <a:solidFill>
                  <a:srgbClr val="535353"/>
                </a:solidFill>
                <a:latin typeface="Lucida Sans Unicode"/>
                <a:cs typeface="Lucida Sans Unicode"/>
              </a:rPr>
              <a:t>Fast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35">
                <a:solidFill>
                  <a:srgbClr val="535353"/>
                </a:solidFill>
                <a:latin typeface="Lucida Sans Unicode"/>
                <a:cs typeface="Lucida Sans Unicode"/>
              </a:rPr>
              <a:t>prototyping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(minutes,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50">
                <a:solidFill>
                  <a:srgbClr val="535353"/>
                </a:solidFill>
                <a:latin typeface="Lucida Sans Unicode"/>
                <a:cs typeface="Lucida Sans Unicode"/>
              </a:rPr>
              <a:t>not</a:t>
            </a:r>
            <a:r>
              <a:rPr dirty="0" sz="3250" spc="-18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95">
                <a:solidFill>
                  <a:srgbClr val="535353"/>
                </a:solidFill>
                <a:latin typeface="Lucida Sans Unicode"/>
                <a:cs typeface="Lucida Sans Unicode"/>
              </a:rPr>
              <a:t>weeks) </a:t>
            </a:r>
            <a:r>
              <a:rPr dirty="0" sz="3250" spc="220">
                <a:solidFill>
                  <a:srgbClr val="535353"/>
                </a:solidFill>
                <a:latin typeface="Lucida Sans Unicode"/>
                <a:cs typeface="Lucida Sans Unicode"/>
              </a:rPr>
              <a:t>Great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for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50">
                <a:solidFill>
                  <a:srgbClr val="535353"/>
                </a:solidFill>
                <a:latin typeface="Lucida Sans Unicode"/>
                <a:cs typeface="Lucida Sans Unicode"/>
              </a:rPr>
              <a:t>AI/ML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45">
                <a:solidFill>
                  <a:srgbClr val="535353"/>
                </a:solidFill>
                <a:latin typeface="Lucida Sans Unicode"/>
                <a:cs typeface="Lucida Sans Unicode"/>
              </a:rPr>
              <a:t>model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demos</a:t>
            </a:r>
            <a:endParaRPr sz="3250">
              <a:latin typeface="Lucida Sans Unicode"/>
              <a:cs typeface="Lucida Sans Unicode"/>
            </a:endParaRPr>
          </a:p>
          <a:p>
            <a:pPr marL="115570" marR="2762885">
              <a:lnSpc>
                <a:spcPct val="117300"/>
              </a:lnSpc>
            </a:pP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Easy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to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55">
                <a:solidFill>
                  <a:srgbClr val="535353"/>
                </a:solidFill>
                <a:latin typeface="Lucida Sans Unicode"/>
                <a:cs typeface="Lucida Sans Unicode"/>
              </a:rPr>
              <a:t>share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50">
                <a:solidFill>
                  <a:srgbClr val="535353"/>
                </a:solidFill>
                <a:latin typeface="Lucida Sans Unicode"/>
                <a:cs typeface="Lucida Sans Unicode"/>
              </a:rPr>
              <a:t>with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95">
                <a:solidFill>
                  <a:srgbClr val="535353"/>
                </a:solidFill>
                <a:latin typeface="Lucida Sans Unicode"/>
                <a:cs typeface="Lucida Sans Unicode"/>
              </a:rPr>
              <a:t>teams </a:t>
            </a:r>
            <a:r>
              <a:rPr dirty="0" sz="3250" spc="75">
                <a:solidFill>
                  <a:srgbClr val="535353"/>
                </a:solidFill>
                <a:latin typeface="Lucida Sans Unicode"/>
                <a:cs typeface="Lucida Sans Unicode"/>
              </a:rPr>
              <a:t>Open-</a:t>
            </a:r>
            <a:r>
              <a:rPr dirty="0" sz="3250" spc="175">
                <a:solidFill>
                  <a:srgbClr val="535353"/>
                </a:solidFill>
                <a:latin typeface="Lucida Sans Unicode"/>
                <a:cs typeface="Lucida Sans Unicode"/>
              </a:rPr>
              <a:t>source</a:t>
            </a:r>
            <a:r>
              <a:rPr dirty="0" sz="3250" spc="-19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535353"/>
                </a:solidFill>
                <a:latin typeface="Lucida Sans Unicode"/>
                <a:cs typeface="Lucida Sans Unicode"/>
              </a:rPr>
              <a:t>&amp;</a:t>
            </a:r>
            <a:r>
              <a:rPr dirty="0" sz="3250" spc="-19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free</a:t>
            </a:r>
            <a:endParaRPr sz="3250">
              <a:latin typeface="Lucida Sans Unicode"/>
              <a:cs typeface="Lucida Sans Unicode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063" rIns="0" bIns="0" rtlCol="0" vert="horz">
            <a:spAutoFit/>
          </a:bodyPr>
          <a:lstStyle/>
          <a:p>
            <a:pPr marL="930275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LIMITATIONS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18221" y="3932547"/>
            <a:ext cx="6671945" cy="40925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50" spc="-380">
                <a:solidFill>
                  <a:srgbClr val="535353"/>
                </a:solidFill>
                <a:latin typeface="Lucida Sans Unicode"/>
                <a:cs typeface="Lucida Sans Unicode"/>
              </a:rPr>
              <a:t>-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Limited</a:t>
            </a:r>
            <a:r>
              <a:rPr dirty="0" sz="3250" spc="-21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55">
                <a:solidFill>
                  <a:srgbClr val="535353"/>
                </a:solidFill>
                <a:latin typeface="Lucida Sans Unicode"/>
                <a:cs typeface="Lucida Sans Unicode"/>
              </a:rPr>
              <a:t>UI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10">
                <a:solidFill>
                  <a:srgbClr val="535353"/>
                </a:solidFill>
                <a:latin typeface="Lucida Sans Unicode"/>
                <a:cs typeface="Lucida Sans Unicode"/>
              </a:rPr>
              <a:t>customization</a:t>
            </a:r>
            <a:endParaRPr sz="3250">
              <a:latin typeface="Lucida Sans Unicode"/>
              <a:cs typeface="Lucida Sans Unicode"/>
            </a:endParaRPr>
          </a:p>
          <a:p>
            <a:pPr marL="12700" marR="5080" indent="292735">
              <a:lnSpc>
                <a:spcPct val="117300"/>
              </a:lnSpc>
              <a:buChar char="-"/>
              <a:tabLst>
                <a:tab pos="305435" algn="l"/>
              </a:tabLst>
            </a:pPr>
            <a:r>
              <a:rPr dirty="0" sz="3250" spc="135">
                <a:solidFill>
                  <a:srgbClr val="535353"/>
                </a:solidFill>
                <a:latin typeface="Lucida Sans Unicode"/>
                <a:cs typeface="Lucida Sans Unicode"/>
              </a:rPr>
              <a:t>Not</a:t>
            </a:r>
            <a:r>
              <a:rPr dirty="0" sz="3250" spc="-12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for</a:t>
            </a:r>
            <a:r>
              <a:rPr dirty="0" sz="3250" spc="-12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535353"/>
                </a:solidFill>
                <a:latin typeface="Lucida Sans Unicode"/>
                <a:cs typeface="Lucida Sans Unicode"/>
              </a:rPr>
              <a:t>large-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scale</a:t>
            </a:r>
            <a:r>
              <a:rPr dirty="0" sz="3250" spc="-12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40">
                <a:solidFill>
                  <a:srgbClr val="535353"/>
                </a:solidFill>
                <a:latin typeface="Lucida Sans Unicode"/>
                <a:cs typeface="Lucida Sans Unicode"/>
              </a:rPr>
              <a:t>enterprise </a:t>
            </a:r>
            <a:r>
              <a:rPr dirty="0" sz="3250" spc="160">
                <a:solidFill>
                  <a:srgbClr val="535353"/>
                </a:solidFill>
                <a:latin typeface="Lucida Sans Unicode"/>
                <a:cs typeface="Lucida Sans Unicode"/>
              </a:rPr>
              <a:t>apps</a:t>
            </a:r>
            <a:endParaRPr sz="3250">
              <a:latin typeface="Lucida Sans Unicode"/>
              <a:cs typeface="Lucida Sans Unicode"/>
            </a:endParaRPr>
          </a:p>
          <a:p>
            <a:pPr marL="12700" marR="339090" indent="292735">
              <a:lnSpc>
                <a:spcPct val="117300"/>
              </a:lnSpc>
              <a:buChar char="-"/>
              <a:tabLst>
                <a:tab pos="305435" algn="l"/>
              </a:tabLst>
            </a:pPr>
            <a:r>
              <a:rPr dirty="0" sz="3250" spc="240">
                <a:solidFill>
                  <a:srgbClr val="535353"/>
                </a:solidFill>
                <a:latin typeface="Lucida Sans Unicode"/>
                <a:cs typeface="Lucida Sans Unicode"/>
              </a:rPr>
              <a:t>Can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struggle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50">
                <a:solidFill>
                  <a:srgbClr val="535353"/>
                </a:solidFill>
                <a:latin typeface="Lucida Sans Unicode"/>
                <a:cs typeface="Lucida Sans Unicode"/>
              </a:rPr>
              <a:t>with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60">
                <a:solidFill>
                  <a:srgbClr val="535353"/>
                </a:solidFill>
                <a:latin typeface="Lucida Sans Unicode"/>
                <a:cs typeface="Lucida Sans Unicode"/>
              </a:rPr>
              <a:t>very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0">
                <a:solidFill>
                  <a:srgbClr val="535353"/>
                </a:solidFill>
                <a:latin typeface="Lucida Sans Unicode"/>
                <a:cs typeface="Lucida Sans Unicode"/>
              </a:rPr>
              <a:t>large </a:t>
            </a:r>
            <a:r>
              <a:rPr dirty="0" sz="3250" spc="180">
                <a:solidFill>
                  <a:srgbClr val="535353"/>
                </a:solidFill>
                <a:latin typeface="Lucida Sans Unicode"/>
                <a:cs typeface="Lucida Sans Unicode"/>
              </a:rPr>
              <a:t>datasets</a:t>
            </a:r>
            <a:endParaRPr sz="3250">
              <a:latin typeface="Lucida Sans Unicode"/>
              <a:cs typeface="Lucida Sans Unicode"/>
            </a:endParaRPr>
          </a:p>
          <a:p>
            <a:pPr marL="12700" marR="1460500" indent="292735">
              <a:lnSpc>
                <a:spcPct val="117300"/>
              </a:lnSpc>
              <a:buChar char="-"/>
              <a:tabLst>
                <a:tab pos="305435" algn="l"/>
              </a:tabLst>
            </a:pP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Python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80">
                <a:solidFill>
                  <a:srgbClr val="535353"/>
                </a:solidFill>
                <a:latin typeface="Lucida Sans Unicode"/>
                <a:cs typeface="Lucida Sans Unicode"/>
              </a:rPr>
              <a:t>only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90">
                <a:solidFill>
                  <a:srgbClr val="535353"/>
                </a:solidFill>
                <a:latin typeface="Lucida Sans Unicode"/>
                <a:cs typeface="Lucida Sans Unicode"/>
              </a:rPr>
              <a:t>(not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535353"/>
                </a:solidFill>
                <a:latin typeface="Lucida Sans Unicode"/>
                <a:cs typeface="Lucida Sans Unicode"/>
              </a:rPr>
              <a:t>multi- </a:t>
            </a:r>
            <a:r>
              <a:rPr dirty="0" sz="3250" spc="150">
                <a:solidFill>
                  <a:srgbClr val="535353"/>
                </a:solidFill>
                <a:latin typeface="Lucida Sans Unicode"/>
                <a:cs typeface="Lucida Sans Unicode"/>
              </a:rPr>
              <a:t>language)</a:t>
            </a:r>
            <a:endParaRPr sz="3250">
              <a:latin typeface="Lucida Sans Unicode"/>
              <a:cs typeface="Lucida Sans Unicod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1709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100"/>
              </a:spcBef>
            </a:pPr>
            <a:r>
              <a:rPr dirty="0" spc="160"/>
              <a:t>REAL</a:t>
            </a:r>
            <a:r>
              <a:rPr dirty="0" spc="-125"/>
              <a:t> </a:t>
            </a:r>
            <a:r>
              <a:rPr dirty="0" spc="125"/>
              <a:t>USE</a:t>
            </a:r>
            <a:r>
              <a:rPr dirty="0" spc="-125"/>
              <a:t> </a:t>
            </a:r>
            <a:r>
              <a:rPr dirty="0" spc="175"/>
              <a:t>CASES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dirty="0" sz="3550" spc="1880">
                <a:latin typeface="Courier New"/>
                <a:cs typeface="Courier New"/>
              </a:rPr>
              <a:t>📈</a:t>
            </a:r>
            <a:r>
              <a:rPr dirty="0" sz="3550" spc="-1310">
                <a:latin typeface="Courier New"/>
                <a:cs typeface="Courier New"/>
              </a:rPr>
              <a:t> </a:t>
            </a:r>
            <a:r>
              <a:rPr dirty="0" spc="170"/>
              <a:t>Data</a:t>
            </a:r>
            <a:r>
              <a:rPr dirty="0" spc="-204"/>
              <a:t> </a:t>
            </a:r>
            <a:r>
              <a:rPr dirty="0" spc="155"/>
              <a:t>dashboards</a:t>
            </a:r>
            <a:r>
              <a:rPr dirty="0" spc="-210"/>
              <a:t> </a:t>
            </a:r>
            <a:r>
              <a:rPr dirty="0" spc="155"/>
              <a:t>(finance,</a:t>
            </a:r>
            <a:r>
              <a:rPr dirty="0" spc="-204"/>
              <a:t> </a:t>
            </a:r>
            <a:r>
              <a:rPr dirty="0" spc="150"/>
              <a:t>healthcare,</a:t>
            </a:r>
            <a:r>
              <a:rPr dirty="0" spc="-210"/>
              <a:t> </a:t>
            </a:r>
            <a:r>
              <a:rPr dirty="0" spc="85"/>
              <a:t>IoT)</a:t>
            </a:r>
            <a:endParaRPr sz="3550">
              <a:latin typeface="Courier New"/>
              <a:cs typeface="Courier New"/>
            </a:endParaRPr>
          </a:p>
          <a:p>
            <a:pPr marL="3582670" marR="895350" indent="-3400425">
              <a:lnSpc>
                <a:spcPts val="4580"/>
              </a:lnSpc>
              <a:spcBef>
                <a:spcPts val="200"/>
              </a:spcBef>
            </a:pPr>
            <a:r>
              <a:rPr dirty="0" sz="3650" spc="1785">
                <a:latin typeface="Courier New"/>
                <a:cs typeface="Courier New"/>
              </a:rPr>
              <a:t>🤖</a:t>
            </a:r>
            <a:r>
              <a:rPr dirty="0" sz="3650" spc="-1360">
                <a:latin typeface="Courier New"/>
                <a:cs typeface="Courier New"/>
              </a:rPr>
              <a:t> </a:t>
            </a:r>
            <a:r>
              <a:rPr dirty="0" spc="50"/>
              <a:t>AI/ML</a:t>
            </a:r>
            <a:r>
              <a:rPr dirty="0" spc="-200"/>
              <a:t> </a:t>
            </a:r>
            <a:r>
              <a:rPr dirty="0" spc="145"/>
              <a:t>model</a:t>
            </a:r>
            <a:r>
              <a:rPr dirty="0" spc="-200"/>
              <a:t> </a:t>
            </a:r>
            <a:r>
              <a:rPr dirty="0" spc="190"/>
              <a:t>showcases</a:t>
            </a:r>
            <a:r>
              <a:rPr dirty="0" spc="-200"/>
              <a:t> </a:t>
            </a:r>
            <a:r>
              <a:rPr dirty="0" spc="175"/>
              <a:t>(chatbots,</a:t>
            </a:r>
            <a:r>
              <a:rPr dirty="0" spc="-200"/>
              <a:t> </a:t>
            </a:r>
            <a:r>
              <a:rPr dirty="0" spc="-265"/>
              <a:t>image </a:t>
            </a:r>
            <a:r>
              <a:rPr dirty="0" spc="135"/>
              <a:t>recognition)</a:t>
            </a:r>
            <a:endParaRPr sz="3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650" spc="2880">
                <a:latin typeface="Webdings"/>
                <a:cs typeface="Webdings"/>
              </a:rPr>
              <a:t>🏫</a:t>
            </a:r>
            <a:r>
              <a:rPr dirty="0" sz="3650" spc="-90">
                <a:latin typeface="Times New Roman"/>
                <a:cs typeface="Times New Roman"/>
              </a:rPr>
              <a:t> </a:t>
            </a:r>
            <a:r>
              <a:rPr dirty="0" spc="145"/>
              <a:t>Teaching</a:t>
            </a:r>
            <a:r>
              <a:rPr dirty="0" spc="-200"/>
              <a:t> </a:t>
            </a:r>
            <a:r>
              <a:rPr dirty="0"/>
              <a:t>&amp;</a:t>
            </a:r>
            <a:r>
              <a:rPr dirty="0" spc="-204"/>
              <a:t> </a:t>
            </a:r>
            <a:r>
              <a:rPr dirty="0" spc="100"/>
              <a:t>training</a:t>
            </a:r>
            <a:r>
              <a:rPr dirty="0" spc="-200"/>
              <a:t> </a:t>
            </a:r>
            <a:r>
              <a:rPr dirty="0" spc="180"/>
              <a:t>(students</a:t>
            </a:r>
            <a:r>
              <a:rPr dirty="0" spc="-200"/>
              <a:t> </a:t>
            </a:r>
            <a:r>
              <a:rPr dirty="0" spc="120"/>
              <a:t>learn</a:t>
            </a:r>
            <a:r>
              <a:rPr dirty="0" spc="-204"/>
              <a:t> </a:t>
            </a:r>
            <a:r>
              <a:rPr dirty="0" spc="175"/>
              <a:t>by</a:t>
            </a:r>
            <a:r>
              <a:rPr dirty="0" spc="-200"/>
              <a:t> </a:t>
            </a:r>
            <a:r>
              <a:rPr dirty="0" spc="-320"/>
              <a:t>building</a:t>
            </a:r>
            <a:endParaRPr sz="3650">
              <a:latin typeface="Times New Roman"/>
              <a:cs typeface="Times New Roman"/>
            </a:endParaRPr>
          </a:p>
          <a:p>
            <a:pPr algn="ctr" marR="713105">
              <a:lnSpc>
                <a:spcPct val="100000"/>
              </a:lnSpc>
              <a:spcBef>
                <a:spcPts val="595"/>
              </a:spcBef>
            </a:pPr>
            <a:r>
              <a:rPr dirty="0" spc="195"/>
              <a:t>apps)</a:t>
            </a:r>
          </a:p>
          <a:p>
            <a:pPr algn="ctr" marR="713740">
              <a:lnSpc>
                <a:spcPct val="100000"/>
              </a:lnSpc>
              <a:spcBef>
                <a:spcPts val="275"/>
              </a:spcBef>
            </a:pPr>
            <a:r>
              <a:rPr dirty="0" sz="3650" spc="1785">
                <a:latin typeface="Courier New"/>
                <a:cs typeface="Courier New"/>
              </a:rPr>
              <a:t>🚀</a:t>
            </a:r>
            <a:r>
              <a:rPr dirty="0" sz="3650" spc="-1370">
                <a:latin typeface="Courier New"/>
                <a:cs typeface="Courier New"/>
              </a:rPr>
              <a:t> </a:t>
            </a:r>
            <a:r>
              <a:rPr dirty="0" spc="125"/>
              <a:t>Quick</a:t>
            </a:r>
            <a:r>
              <a:rPr dirty="0" spc="-204"/>
              <a:t> </a:t>
            </a:r>
            <a:r>
              <a:rPr dirty="0" spc="110"/>
              <a:t>internal</a:t>
            </a:r>
            <a:r>
              <a:rPr dirty="0" spc="-204"/>
              <a:t> </a:t>
            </a:r>
            <a:r>
              <a:rPr dirty="0" spc="100"/>
              <a:t>tools</a:t>
            </a:r>
            <a:r>
              <a:rPr dirty="0" spc="-204"/>
              <a:t> </a:t>
            </a:r>
            <a:r>
              <a:rPr dirty="0" spc="125"/>
              <a:t>for</a:t>
            </a:r>
            <a:r>
              <a:rPr dirty="0" spc="-204"/>
              <a:t> </a:t>
            </a:r>
            <a:r>
              <a:rPr dirty="0" spc="204"/>
              <a:t>teams</a:t>
            </a:r>
            <a:r>
              <a:rPr dirty="0" spc="-204"/>
              <a:t> </a:t>
            </a:r>
            <a:r>
              <a:rPr dirty="0"/>
              <a:t>&amp;</a:t>
            </a:r>
            <a:r>
              <a:rPr dirty="0" spc="-204"/>
              <a:t> </a:t>
            </a:r>
            <a:r>
              <a:rPr dirty="0" spc="145"/>
              <a:t>startups</a:t>
            </a:r>
            <a:endParaRPr sz="365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29590">
              <a:lnSpc>
                <a:spcPct val="100000"/>
              </a:lnSpc>
              <a:spcBef>
                <a:spcPts val="100"/>
              </a:spcBef>
            </a:pPr>
            <a:r>
              <a:rPr dirty="0" spc="1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13549" y="3638474"/>
            <a:ext cx="9912985" cy="284226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3950" spc="-490">
                <a:solidFill>
                  <a:srgbClr val="535353"/>
                </a:solidFill>
                <a:latin typeface="Lucida Sans Unicode"/>
                <a:cs typeface="Lucida Sans Unicode"/>
              </a:rPr>
              <a:t>-</a:t>
            </a:r>
            <a:r>
              <a:rPr dirty="0" sz="3950" spc="165">
                <a:solidFill>
                  <a:srgbClr val="535353"/>
                </a:solidFill>
                <a:latin typeface="Lucida Sans Unicode"/>
                <a:cs typeface="Lucida Sans Unicode"/>
              </a:rPr>
              <a:t>streamlit</a:t>
            </a:r>
            <a:r>
              <a:rPr dirty="0" sz="3950" spc="-23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-30">
                <a:solidFill>
                  <a:srgbClr val="535353"/>
                </a:solidFill>
                <a:latin typeface="Lucida Sans Unicode"/>
                <a:cs typeface="Lucida Sans Unicode"/>
              </a:rPr>
              <a:t>cloud(1-</a:t>
            </a:r>
            <a:r>
              <a:rPr dirty="0" sz="3950" spc="160">
                <a:solidFill>
                  <a:srgbClr val="535353"/>
                </a:solidFill>
                <a:latin typeface="Lucida Sans Unicode"/>
                <a:cs typeface="Lucida Sans Unicode"/>
              </a:rPr>
              <a:t>click</a:t>
            </a:r>
            <a:r>
              <a:rPr dirty="0" sz="3950" spc="-229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229">
                <a:solidFill>
                  <a:srgbClr val="535353"/>
                </a:solidFill>
                <a:latin typeface="Lucida Sans Unicode"/>
                <a:cs typeface="Lucida Sans Unicode"/>
              </a:rPr>
              <a:t>free</a:t>
            </a:r>
            <a:r>
              <a:rPr dirty="0" sz="3950" spc="-229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155">
                <a:solidFill>
                  <a:srgbClr val="535353"/>
                </a:solidFill>
                <a:latin typeface="Lucida Sans Unicode"/>
                <a:cs typeface="Lucida Sans Unicode"/>
              </a:rPr>
              <a:t>hosting)</a:t>
            </a:r>
            <a:endParaRPr sz="3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3950" spc="-490">
                <a:solidFill>
                  <a:srgbClr val="535353"/>
                </a:solidFill>
                <a:latin typeface="Lucida Sans Unicode"/>
                <a:cs typeface="Lucida Sans Unicode"/>
              </a:rPr>
              <a:t>-</a:t>
            </a:r>
            <a:r>
              <a:rPr dirty="0" sz="3950" spc="125">
                <a:solidFill>
                  <a:srgbClr val="535353"/>
                </a:solidFill>
                <a:latin typeface="Lucida Sans Unicode"/>
                <a:cs typeface="Lucida Sans Unicode"/>
              </a:rPr>
              <a:t>or</a:t>
            </a:r>
            <a:r>
              <a:rPr dirty="0" sz="3950" spc="-25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170">
                <a:solidFill>
                  <a:srgbClr val="535353"/>
                </a:solidFill>
                <a:latin typeface="Lucida Sans Unicode"/>
                <a:cs typeface="Lucida Sans Unicode"/>
              </a:rPr>
              <a:t>deploy</a:t>
            </a:r>
            <a:r>
              <a:rPr dirty="0" sz="3950" spc="-25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120">
                <a:solidFill>
                  <a:srgbClr val="535353"/>
                </a:solidFill>
                <a:latin typeface="Lucida Sans Unicode"/>
                <a:cs typeface="Lucida Sans Unicode"/>
              </a:rPr>
              <a:t>via</a:t>
            </a:r>
            <a:r>
              <a:rPr dirty="0" sz="3950" spc="-25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155">
                <a:solidFill>
                  <a:srgbClr val="535353"/>
                </a:solidFill>
                <a:latin typeface="Lucida Sans Unicode"/>
                <a:cs typeface="Lucida Sans Unicode"/>
              </a:rPr>
              <a:t>AWS,Azure,Gcp,Docker</a:t>
            </a:r>
            <a:endParaRPr sz="3950">
              <a:latin typeface="Lucida Sans Unicode"/>
              <a:cs typeface="Lucida Sans Unicode"/>
            </a:endParaRPr>
          </a:p>
          <a:p>
            <a:pPr marL="12700" marR="5080">
              <a:lnSpc>
                <a:spcPts val="5540"/>
              </a:lnSpc>
              <a:spcBef>
                <a:spcPts val="120"/>
              </a:spcBef>
            </a:pPr>
            <a:r>
              <a:rPr dirty="0" sz="3950" spc="-490">
                <a:solidFill>
                  <a:srgbClr val="535353"/>
                </a:solidFill>
                <a:latin typeface="Lucida Sans Unicode"/>
                <a:cs typeface="Lucida Sans Unicode"/>
              </a:rPr>
              <a:t>-</a:t>
            </a:r>
            <a:r>
              <a:rPr dirty="0" sz="3950" spc="190">
                <a:solidFill>
                  <a:srgbClr val="535353"/>
                </a:solidFill>
                <a:latin typeface="Lucida Sans Unicode"/>
                <a:cs typeface="Lucida Sans Unicode"/>
              </a:rPr>
              <a:t>share</a:t>
            </a:r>
            <a:r>
              <a:rPr dirty="0" sz="39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250">
                <a:solidFill>
                  <a:srgbClr val="535353"/>
                </a:solidFill>
                <a:latin typeface="Lucida Sans Unicode"/>
                <a:cs typeface="Lucida Sans Unicode"/>
              </a:rPr>
              <a:t>app</a:t>
            </a:r>
            <a:r>
              <a:rPr dirty="0" sz="3950" spc="-19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-110">
                <a:solidFill>
                  <a:srgbClr val="535353"/>
                </a:solidFill>
                <a:latin typeface="Lucida Sans Unicode"/>
                <a:cs typeface="Lucida Sans Unicode"/>
              </a:rPr>
              <a:t>link-</a:t>
            </a:r>
            <a:r>
              <a:rPr dirty="0" sz="3950">
                <a:solidFill>
                  <a:srgbClr val="535353"/>
                </a:solidFill>
                <a:latin typeface="Lucida Sans Unicode"/>
                <a:cs typeface="Lucida Sans Unicode"/>
              </a:rPr>
              <a:t>&gt;anyone</a:t>
            </a:r>
            <a:r>
              <a:rPr dirty="0" sz="39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295">
                <a:solidFill>
                  <a:srgbClr val="535353"/>
                </a:solidFill>
                <a:latin typeface="Lucida Sans Unicode"/>
                <a:cs typeface="Lucida Sans Unicode"/>
              </a:rPr>
              <a:t>can</a:t>
            </a:r>
            <a:r>
              <a:rPr dirty="0" sz="3950" spc="-19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295">
                <a:solidFill>
                  <a:srgbClr val="535353"/>
                </a:solidFill>
                <a:latin typeface="Lucida Sans Unicode"/>
                <a:cs typeface="Lucida Sans Unicode"/>
              </a:rPr>
              <a:t>access</a:t>
            </a:r>
            <a:r>
              <a:rPr dirty="0" sz="39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950" spc="-25">
                <a:solidFill>
                  <a:srgbClr val="535353"/>
                </a:solidFill>
                <a:latin typeface="Lucida Sans Unicode"/>
                <a:cs typeface="Lucida Sans Unicode"/>
              </a:rPr>
              <a:t>in </a:t>
            </a:r>
            <a:r>
              <a:rPr dirty="0" sz="3950" spc="190">
                <a:solidFill>
                  <a:srgbClr val="535353"/>
                </a:solidFill>
                <a:latin typeface="Lucida Sans Unicode"/>
                <a:cs typeface="Lucida Sans Unicode"/>
              </a:rPr>
              <a:t>browser</a:t>
            </a:r>
            <a:endParaRPr sz="3950">
              <a:latin typeface="Lucida Sans Unicode"/>
              <a:cs typeface="Lucida Sans Unicod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532" rIns="0" bIns="0" rtlCol="0" vert="horz">
            <a:spAutoFit/>
          </a:bodyPr>
          <a:lstStyle/>
          <a:p>
            <a:pPr marL="11068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5261" y="4224177"/>
            <a:ext cx="152400" cy="152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5261" y="4805202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5261" y="5967252"/>
            <a:ext cx="152400" cy="1523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953424" y="3932547"/>
            <a:ext cx="9544050" cy="2349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300"/>
              </a:lnSpc>
              <a:spcBef>
                <a:spcPts val="95"/>
              </a:spcBef>
            </a:pPr>
            <a:r>
              <a:rPr dirty="0" sz="3250" spc="160">
                <a:solidFill>
                  <a:srgbClr val="535353"/>
                </a:solidFill>
                <a:latin typeface="Lucida Sans Unicode"/>
                <a:cs typeface="Lucida Sans Unicode"/>
              </a:rPr>
              <a:t>Streamlit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650">
                <a:solidFill>
                  <a:srgbClr val="535353"/>
                </a:solidFill>
                <a:latin typeface="Lucida Sans Unicode"/>
                <a:cs typeface="Lucida Sans Unicode"/>
              </a:rPr>
              <a:t>=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Python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30">
                <a:solidFill>
                  <a:srgbClr val="535353"/>
                </a:solidFill>
                <a:latin typeface="Lucida Sans Unicode"/>
                <a:cs typeface="Lucida Sans Unicode"/>
              </a:rPr>
              <a:t>→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3250" spc="-2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390">
                <a:solidFill>
                  <a:srgbClr val="535353"/>
                </a:solidFill>
                <a:latin typeface="Lucida Sans Unicode"/>
                <a:cs typeface="Lucida Sans Unicode"/>
              </a:rPr>
              <a:t>Web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10">
                <a:solidFill>
                  <a:srgbClr val="535353"/>
                </a:solidFill>
                <a:latin typeface="Lucida Sans Unicode"/>
                <a:cs typeface="Lucida Sans Unicode"/>
              </a:rPr>
              <a:t>Apps </a:t>
            </a:r>
            <a:r>
              <a:rPr dirty="0" sz="3250" spc="235">
                <a:solidFill>
                  <a:srgbClr val="535353"/>
                </a:solidFill>
                <a:latin typeface="Lucida Sans Unicode"/>
                <a:cs typeface="Lucida Sans Unicode"/>
              </a:rPr>
              <a:t>Perfect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25">
                <a:solidFill>
                  <a:srgbClr val="535353"/>
                </a:solidFill>
                <a:latin typeface="Lucida Sans Unicode"/>
                <a:cs typeface="Lucida Sans Unicode"/>
              </a:rPr>
              <a:t>for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10">
                <a:solidFill>
                  <a:srgbClr val="535353"/>
                </a:solidFill>
                <a:latin typeface="Lucida Sans Unicode"/>
                <a:cs typeface="Lucida Sans Unicode"/>
              </a:rPr>
              <a:t>beginners,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210">
                <a:solidFill>
                  <a:srgbClr val="535353"/>
                </a:solidFill>
                <a:latin typeface="Lucida Sans Unicode"/>
                <a:cs typeface="Lucida Sans Unicode"/>
              </a:rPr>
              <a:t>data</a:t>
            </a:r>
            <a:r>
              <a:rPr dirty="0" sz="3250" spc="-20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14">
                <a:solidFill>
                  <a:srgbClr val="535353"/>
                </a:solidFill>
                <a:latin typeface="Lucida Sans Unicode"/>
                <a:cs typeface="Lucida Sans Unicode"/>
              </a:rPr>
              <a:t>scientists,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75">
                <a:solidFill>
                  <a:srgbClr val="535353"/>
                </a:solidFill>
                <a:latin typeface="Lucida Sans Unicode"/>
                <a:cs typeface="Lucida Sans Unicode"/>
              </a:rPr>
              <a:t>and</a:t>
            </a:r>
            <a:r>
              <a:rPr dirty="0" sz="3250" spc="-204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25">
                <a:solidFill>
                  <a:srgbClr val="535353"/>
                </a:solidFill>
                <a:latin typeface="Lucida Sans Unicode"/>
                <a:cs typeface="Lucida Sans Unicode"/>
              </a:rPr>
              <a:t>AI </a:t>
            </a:r>
            <a:r>
              <a:rPr dirty="0" sz="3250" spc="170">
                <a:solidFill>
                  <a:srgbClr val="535353"/>
                </a:solidFill>
                <a:latin typeface="Lucida Sans Unicode"/>
                <a:cs typeface="Lucida Sans Unicode"/>
              </a:rPr>
              <a:t>demos</a:t>
            </a:r>
            <a:endParaRPr sz="32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3250" spc="110">
                <a:solidFill>
                  <a:srgbClr val="535353"/>
                </a:solidFill>
                <a:latin typeface="Lucida Sans Unicode"/>
                <a:cs typeface="Lucida Sans Unicode"/>
              </a:rPr>
              <a:t>Simple,</a:t>
            </a:r>
            <a:r>
              <a:rPr dirty="0" sz="3250" spc="-185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14">
                <a:solidFill>
                  <a:srgbClr val="535353"/>
                </a:solidFill>
                <a:latin typeface="Lucida Sans Unicode"/>
                <a:cs typeface="Lucida Sans Unicode"/>
              </a:rPr>
              <a:t>powerful,</a:t>
            </a:r>
            <a:r>
              <a:rPr dirty="0" sz="3250" spc="-18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55">
                <a:solidFill>
                  <a:srgbClr val="535353"/>
                </a:solidFill>
                <a:latin typeface="Lucida Sans Unicode"/>
                <a:cs typeface="Lucida Sans Unicode"/>
              </a:rPr>
              <a:t>open-</a:t>
            </a:r>
            <a:r>
              <a:rPr dirty="0" sz="3250" spc="165">
                <a:solidFill>
                  <a:srgbClr val="535353"/>
                </a:solidFill>
                <a:latin typeface="Lucida Sans Unicode"/>
                <a:cs typeface="Lucida Sans Unicode"/>
              </a:rPr>
              <a:t>source</a:t>
            </a:r>
            <a:endParaRPr sz="325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pc="-25"/>
              <a:t>0</a:t>
            </a: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789" y="4207007"/>
            <a:ext cx="633857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50"/>
              <a:t>THANK</a:t>
            </a:r>
            <a:r>
              <a:rPr dirty="0" sz="8000" spc="-165"/>
              <a:t> </a:t>
            </a:r>
            <a:r>
              <a:rPr dirty="0" sz="8000" spc="105"/>
              <a:t>YOU</a:t>
            </a:r>
            <a:endParaRPr sz="8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497427" y="9006877"/>
            <a:ext cx="705485" cy="8991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4750" spc="-520">
                <a:solidFill>
                  <a:srgbClr val="535353"/>
                </a:solidFill>
                <a:latin typeface="Arial Black"/>
                <a:cs typeface="Arial Black"/>
              </a:rPr>
              <a:t>10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Gayathri Chebolu</dc:creator>
  <cp:keywords>DAGzQJ8qpNg,BAFUzRfyQ1s,0</cp:keywords>
  <dc:title>Introduction to Streamlit</dc:title>
  <dcterms:created xsi:type="dcterms:W3CDTF">2025-09-22T04:23:15Z</dcterms:created>
  <dcterms:modified xsi:type="dcterms:W3CDTF">2025-09-22T04:23:15Z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2025-09-22T00:00:00Z</vt:filetime>
  </property>
  <property fmtid="{D5CDD505-2E9C-101B-9397-08002B2CF9AE}" pid="5" name="Producer">
    <vt:lpwstr>Canva</vt:lpwstr>
  </property>
</Properties>
</file>